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b150791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b150791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b150791e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b150791e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6b150791e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6b150791e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6e852aed2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6e852aed2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e852aed2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e852aed2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6e852aed2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6e852aed2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e852aed2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6e852aed2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e852aed2f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e852aed2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e852aed2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e852aed2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e852aed2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6e852aed2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6e852aed2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6e852aed2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e852aed2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6e852aed2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6e852aed2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6e852aed2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6e852aed2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6e852aed2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6e852aed2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6e852aed2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e852aed2f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e852aed2f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e852aed2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6e852aed2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6e852aed2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6e852aed2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6e852aed2f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6e852aed2f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6e852aed2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6e852aed2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194297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Introduction to Machine Learning</a:t>
            </a:r>
            <a:endParaRPr/>
          </a:p>
          <a:p>
            <a:pPr indent="0" lvl="0" marL="0" rtl="0" algn="ctr">
              <a:spcBef>
                <a:spcPts val="0"/>
              </a:spcBef>
              <a:spcAft>
                <a:spcPts val="0"/>
              </a:spcAft>
              <a:buNone/>
            </a:pPr>
            <a:r>
              <a:rPr lang="en"/>
              <a:t>CCS3102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Week</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Introduction to Unsupervised Learning</a:t>
            </a:r>
            <a:endParaRPr/>
          </a:p>
          <a:p>
            <a:pPr indent="-342900" lvl="0" marL="457200" rtl="0" algn="l">
              <a:spcBef>
                <a:spcPts val="0"/>
              </a:spcBef>
              <a:spcAft>
                <a:spcPts val="0"/>
              </a:spcAft>
              <a:buSzPts val="1800"/>
              <a:buAutoNum type="arabicPeriod"/>
            </a:pPr>
            <a:r>
              <a:rPr lang="en"/>
              <a:t>Applications of Unsupervised Learning</a:t>
            </a:r>
            <a:endParaRPr/>
          </a:p>
          <a:p>
            <a:pPr indent="-342900" lvl="0" marL="457200" rtl="0" algn="l">
              <a:spcBef>
                <a:spcPts val="0"/>
              </a:spcBef>
              <a:spcAft>
                <a:spcPts val="0"/>
              </a:spcAft>
              <a:buSzPts val="1800"/>
              <a:buAutoNum type="arabicPeriod"/>
            </a:pPr>
            <a:r>
              <a:rPr lang="en"/>
              <a:t>KMeans</a:t>
            </a:r>
            <a:r>
              <a:rPr lang="en"/>
              <a:t> Clustering</a:t>
            </a:r>
            <a:endParaRPr/>
          </a:p>
          <a:p>
            <a:pPr indent="-342900" lvl="0" marL="457200" rtl="0" algn="l">
              <a:spcBef>
                <a:spcPts val="0"/>
              </a:spcBef>
              <a:spcAft>
                <a:spcPts val="0"/>
              </a:spcAft>
              <a:buSzPts val="1800"/>
              <a:buAutoNum type="arabicPeriod"/>
            </a:pPr>
            <a:r>
              <a:rPr lang="en"/>
              <a:t>Within-Cluster Sum of Squares and Elbow plot</a:t>
            </a:r>
            <a:endParaRPr/>
          </a:p>
          <a:p>
            <a:pPr indent="-342900" lvl="0" marL="457200" rtl="0" algn="l">
              <a:spcBef>
                <a:spcPts val="0"/>
              </a:spcBef>
              <a:spcAft>
                <a:spcPts val="0"/>
              </a:spcAft>
              <a:buSzPts val="1800"/>
              <a:buAutoNum type="arabicPeriod"/>
            </a:pPr>
            <a:r>
              <a:rPr lang="en"/>
              <a:t>Evaluating Unsupervised Models</a:t>
            </a:r>
            <a:endParaRPr/>
          </a:p>
          <a:p>
            <a:pPr indent="-342900" lvl="0" marL="457200" rtl="0" algn="l">
              <a:spcBef>
                <a:spcPts val="0"/>
              </a:spcBef>
              <a:spcAft>
                <a:spcPts val="0"/>
              </a:spcAft>
              <a:buSzPts val="1800"/>
              <a:buAutoNum type="arabicPeriod"/>
            </a:pPr>
            <a:r>
              <a:rPr lang="en"/>
              <a:t>Practical Examples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Unsupervised Learning</a:t>
            </a:r>
            <a:endParaRPr/>
          </a:p>
        </p:txBody>
      </p:sp>
      <p:sp>
        <p:nvSpPr>
          <p:cNvPr id="66" name="Google Shape;66;p15"/>
          <p:cNvSpPr txBox="1"/>
          <p:nvPr/>
        </p:nvSpPr>
        <p:spPr>
          <a:xfrm>
            <a:off x="413750" y="927650"/>
            <a:ext cx="68421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What is Unsupervised Learning?</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lang="en" sz="1100">
                <a:solidFill>
                  <a:srgbClr val="595959"/>
                </a:solidFill>
              </a:rPr>
              <a:t>Unsupervised learning works with data that has </a:t>
            </a:r>
            <a:r>
              <a:rPr b="1" lang="en" sz="1100">
                <a:solidFill>
                  <a:srgbClr val="595959"/>
                </a:solidFill>
              </a:rPr>
              <a:t>no labels or target outputs</a:t>
            </a:r>
            <a:r>
              <a:rPr lang="en" sz="1100">
                <a:solidFill>
                  <a:srgbClr val="595959"/>
                </a:solidFill>
              </a:rPr>
              <a:t>. Unlike supervised learning where you have input-output pairs, here you only have inputs and must </a:t>
            </a:r>
            <a:r>
              <a:rPr b="1" lang="en" sz="1100">
                <a:solidFill>
                  <a:srgbClr val="595959"/>
                </a:solidFill>
              </a:rPr>
              <a:t>discover hidden patterns or structures</a:t>
            </a:r>
            <a:r>
              <a:rPr lang="en" sz="1100">
                <a:solidFill>
                  <a:srgbClr val="595959"/>
                </a:solidFill>
              </a:rPr>
              <a:t> within the data itself.</a:t>
            </a:r>
            <a:endParaRPr sz="1100">
              <a:solidFill>
                <a:srgbClr val="595959"/>
              </a:solidFill>
            </a:endParaRPr>
          </a:p>
        </p:txBody>
      </p:sp>
      <p:pic>
        <p:nvPicPr>
          <p:cNvPr id="67" name="Google Shape;67;p15"/>
          <p:cNvPicPr preferRelativeResize="0"/>
          <p:nvPr/>
        </p:nvPicPr>
        <p:blipFill>
          <a:blip r:embed="rId3">
            <a:alphaModFix/>
          </a:blip>
          <a:stretch>
            <a:fillRect/>
          </a:stretch>
        </p:blipFill>
        <p:spPr>
          <a:xfrm>
            <a:off x="1892600" y="2062425"/>
            <a:ext cx="4424951" cy="24041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Unsupervised Learning</a:t>
            </a:r>
            <a:endParaRPr/>
          </a:p>
        </p:txBody>
      </p:sp>
      <p:sp>
        <p:nvSpPr>
          <p:cNvPr id="73" name="Google Shape;73;p16"/>
          <p:cNvSpPr txBox="1"/>
          <p:nvPr/>
        </p:nvSpPr>
        <p:spPr>
          <a:xfrm>
            <a:off x="413750" y="927650"/>
            <a:ext cx="68421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Core Intuition</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lang="en" sz="1100">
                <a:solidFill>
                  <a:srgbClr val="595959"/>
                </a:solidFill>
              </a:rPr>
              <a:t>Think of it like being a detective examining clues without knowing what crime was committed. You're looking for patterns, groupings, or anomalies in the data without being told what to look for specifically.</a:t>
            </a:r>
            <a:endParaRPr sz="11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Unsupervised Learning</a:t>
            </a:r>
            <a:endParaRPr/>
          </a:p>
        </p:txBody>
      </p:sp>
      <p:sp>
        <p:nvSpPr>
          <p:cNvPr id="79" name="Google Shape;79;p17"/>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What are the categories or applications of Unsupervised Learning?</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Clustering</a:t>
            </a:r>
            <a:r>
              <a:rPr lang="en" sz="1100">
                <a:solidFill>
                  <a:srgbClr val="595959"/>
                </a:solidFill>
              </a:rPr>
              <a:t> finds natural groupings in data. </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For example, segmenting customers based on purchasing behavior without knowing beforehand how many segments exist or what defines each segment.</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Dimensionality reduction</a:t>
            </a:r>
            <a:r>
              <a:rPr lang="en" sz="1100">
                <a:solidFill>
                  <a:srgbClr val="595959"/>
                </a:solidFill>
              </a:rPr>
              <a:t> simplifies complex data while preserving important information. </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Imagine trying to visualize data with 100 features on a 2D plot - techniques like PCA help you find the most important dimensions.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Association rule learning</a:t>
            </a:r>
            <a:r>
              <a:rPr lang="en" sz="1100">
                <a:solidFill>
                  <a:srgbClr val="595959"/>
                </a:solidFill>
              </a:rPr>
              <a:t> discovers relationships between different variables.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like "people who buy bread also tend to buy butter."</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Anomaly detection</a:t>
            </a:r>
            <a:r>
              <a:rPr lang="en" sz="1100">
                <a:solidFill>
                  <a:srgbClr val="595959"/>
                </a:solidFill>
              </a:rPr>
              <a:t> identifies unusual patterns that don't fit the norm</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useful for fraud detection or quality control.</a:t>
            </a:r>
            <a:endParaRPr sz="1100">
              <a:solidFill>
                <a:srgbClr val="59595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Unsupervised Learning</a:t>
            </a:r>
            <a:endParaRPr/>
          </a:p>
        </p:txBody>
      </p:sp>
      <p:sp>
        <p:nvSpPr>
          <p:cNvPr id="85" name="Google Shape;85;p18"/>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Real-World Applications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Market research uses clustering to identify customer segments. Recommendation systems use collaborative filtering to suggest products. Data visualization relies on dimensionality reduction to make complex datasets understandable. Gene sequencing uses clustering to identify related genetic patterns.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Key Challenges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Evaluation is tricky since there's no "correct answer" to compare against. Results can be subjective and require domain expertise to interpret. Different algorithms may produce very different results on the same data.</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Common Algorithms to Cover</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K-means clustering, hierarchical clustering, Principal Component Analysis (PCA), and DBSCAN provide good foundational coverage of the main techniques.</a:t>
            </a:r>
            <a:endParaRPr sz="1100">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91" name="Google Shape;91;p19"/>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Intuition</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lang="en" sz="1100">
                <a:solidFill>
                  <a:srgbClr val="595959"/>
                </a:solidFill>
              </a:rPr>
              <a:t>Imagine you're organizing a school dance and need to </a:t>
            </a:r>
            <a:r>
              <a:rPr b="1" lang="en" sz="1100">
                <a:solidFill>
                  <a:srgbClr val="595959"/>
                </a:solidFill>
              </a:rPr>
              <a:t>set up k tables</a:t>
            </a:r>
            <a:r>
              <a:rPr lang="en" sz="1100">
                <a:solidFill>
                  <a:srgbClr val="595959"/>
                </a:solidFill>
              </a:rPr>
              <a:t>. You want to group people so that friends sit together and </a:t>
            </a:r>
            <a:r>
              <a:rPr b="1" lang="en" sz="1100">
                <a:solidFill>
                  <a:srgbClr val="595959"/>
                </a:solidFill>
              </a:rPr>
              <a:t>minimize the total distance</a:t>
            </a:r>
            <a:r>
              <a:rPr lang="en" sz="1100">
                <a:solidFill>
                  <a:srgbClr val="595959"/>
                </a:solidFill>
              </a:rPr>
              <a:t> people have to walk from their seats to socialize. K-means does exactly this - it finds k "table locations" (centroids) that minimize the total distance from all people to their assigned tables.</a:t>
            </a:r>
            <a:endParaRPr sz="1100">
              <a:solidFill>
                <a:srgbClr val="59595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97" name="Google Shape;97;p20"/>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Algorithm</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Choose the number of clusters (k)</a:t>
            </a:r>
            <a:r>
              <a:rPr lang="en" sz="1100">
                <a:solidFill>
                  <a:srgbClr val="595959"/>
                </a:solidFill>
              </a:rPr>
              <a:t> - Decide how many groups you want to create in your data.</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Initialize centroids</a:t>
            </a:r>
            <a:r>
              <a:rPr lang="en" sz="1100">
                <a:solidFill>
                  <a:srgbClr val="595959"/>
                </a:solidFill>
              </a:rPr>
              <a:t> - Randomly place k points in the data space as initial cluster centers.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Assign data points to clusters</a:t>
            </a:r>
            <a:r>
              <a:rPr lang="en" sz="1100">
                <a:solidFill>
                  <a:srgbClr val="595959"/>
                </a:solidFill>
              </a:rPr>
              <a:t> - Calculate the distance from each data point to all centroids and assign each point to the nearest centroid.</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Update centroids</a:t>
            </a:r>
            <a:r>
              <a:rPr lang="en" sz="1100">
                <a:solidFill>
                  <a:srgbClr val="595959"/>
                </a:solidFill>
              </a:rPr>
              <a:t> - Move each centroid to the average position of all points assigned to that cluster.</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Check for convergence</a:t>
            </a:r>
            <a:r>
              <a:rPr lang="en" sz="1100">
                <a:solidFill>
                  <a:srgbClr val="595959"/>
                </a:solidFill>
              </a:rPr>
              <a:t> - Determine if the centroids have stopped moving significantly or if maximum iterations are reached.</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Repeat assignment and update steps</a:t>
            </a:r>
            <a:r>
              <a:rPr lang="en" sz="1100">
                <a:solidFill>
                  <a:srgbClr val="595959"/>
                </a:solidFill>
              </a:rPr>
              <a:t> - Continue alternating between assigning points and updating centroids until convergence.</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Output final results</a:t>
            </a:r>
            <a:r>
              <a:rPr lang="en" sz="1100">
                <a:solidFill>
                  <a:srgbClr val="595959"/>
                </a:solidFill>
              </a:rPr>
              <a:t> - Return the cluster assignments for all data points and final centroid positions.</a:t>
            </a:r>
            <a:endParaRPr sz="1100">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03" name="Google Shape;103;p21"/>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Choose the Number of Clusters (k)</a:t>
            </a:r>
            <a:endParaRPr b="1"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Elbow Method</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Plot the within-cluster sum of squares (WCSS/inertia) against different values of k. Look for the "elbow" point where the rate of decrease sharply changes.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Silhouette Analysis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Calculate the silhouette score for different values of k and choose the k that maximizes this score. The silhouette score measures how similar each point is to its own cluster compared to other clusters. Higher silhouette scores indicate better-defined clusters.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Gap Statistic</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Compare the within-cluster dispersion of your data with that of a reference null distribution (random data). The optimal k is where the gap between your data and random data is largest. This method is more statistically rigorous but computationally intensive.</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Domain Knowledge</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Use subject matter expertise to determine meaningful numbers of clusters. For customer segmentation, you might know from business experience that 3-5 segments work best for marketing campaigns. For gene analysis, biological knowledge might suggest expected groupings.</a:t>
            </a:r>
            <a:endParaRPr sz="1100">
              <a:solidFill>
                <a:srgbClr val="595959"/>
              </a:solidFill>
            </a:endParaRPr>
          </a:p>
          <a:p>
            <a:pPr indent="0" lvl="0" marL="0" marR="381000" rtl="0" algn="l">
              <a:lnSpc>
                <a:spcPct val="115000"/>
              </a:lnSpc>
              <a:spcBef>
                <a:spcPts val="1200"/>
              </a:spcBef>
              <a:spcAft>
                <a:spcPts val="1200"/>
              </a:spcAft>
              <a:buNone/>
            </a:pPr>
            <a:r>
              <a:t/>
            </a:r>
            <a:endParaRPr sz="1100">
              <a:solidFill>
                <a:srgbClr val="59595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09" name="Google Shape;109;p22"/>
          <p:cNvSpPr txBox="1"/>
          <p:nvPr/>
        </p:nvSpPr>
        <p:spPr>
          <a:xfrm>
            <a:off x="413750" y="927650"/>
            <a:ext cx="8140500" cy="361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Choose the Number of Clusters (k) - Practical Consideration and Pitfalls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Practical Considerations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Try multiple methods and see if they agree on a similar k value. Consider the interpretability and actionability of the results - sometimes a slightly suboptimal k is better if it produces more meaningful clusters. Remember that there's often no single "correct" answer, and the best k depends on your specific use case and objectives.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Common Pitfalls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Avoid choosing k based solely on mathematical optimization without considering domain relevance. Don't assume the elbow will always be clearly visible - sometimes the curve is smooth. Consider that different initialization methods might suggest different optimal k values.</a:t>
            </a:r>
            <a:endParaRPr sz="1100">
              <a:solidFill>
                <a:srgbClr val="59595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15" name="Google Shape;115;p23"/>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Initialize Centroids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Random Initialization</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Place k centroids at random locations within the data space. This is simple but can lead to poor clustering results and slow convergence. The algorithm might get stuck in local optima, especially with unlucky initial placements.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Random Selection from Data Points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Randomly select k existing data points as initial centroids. This ensures centroids start in regions where data actually exists, which often leads to better convergence than purely random placement.</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K-means++ (Recommended)</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This is the most widely used and effective method. Choose the first centroid randomly from the data points. For each subsequent centroid, select points with probability proportional to their squared distance from the nearest already-chosen centroid [P(point) = (distance to nearest centroid)² / (sum of all squared distances)]. This spreads out initial centroids and typically leads to better final clustering and faster convergence.</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Furthest First</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Start with a random point, then iteratively choose the point that is furthest from all previously selected centroids. This maximizes the initial separation between centroids but can be sensitive to outliers.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Multiple Random Runs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Run K-means multiple times with different random initializations and select the result with the lowest within-cluster sum of squares. Most implementations do this automatically (e.g., scikit-learn runs 10 times by default).</a:t>
            </a:r>
            <a:endParaRPr sz="110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21" name="Google Shape;121;p24"/>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Initialize Centroids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Why Initialization Matters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Poor initialization can lead to suboptimal clustering, longer convergence times, and empty clusters. Good initialization reduces the number of iterations needed and improves the chances of finding the global optimum rather than getting trapped in local optima.</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Best Practice</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Use K-means++ initialization as the default choice, as it's theoretically sound and empirically performs well across different datasets.</a:t>
            </a:r>
            <a:endParaRPr sz="1100">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27" name="Google Shape;127;p25"/>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Check for convergence</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What is Convergence?</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Convergence occurs when the algorithm has reached a stable state where further iterations won't significantly improve the clustering. This happens when centroids stop moving or move very little between iterations.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Common Convergence Criteria</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b="1" lang="en" sz="1100">
                <a:solidFill>
                  <a:srgbClr val="595959"/>
                </a:solidFill>
              </a:rPr>
              <a:t>Centroid Movement Threshold</a:t>
            </a:r>
            <a:endParaRPr b="1"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Calculate how much each centroid moved from the previous iteration. If the total movement (sum of distances moved by all centroids) is below a small threshold (e.g., 0.001), declare convergence. This is the most common approach.</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b="1" lang="en" sz="1100">
                <a:solidFill>
                  <a:srgbClr val="595959"/>
                </a:solidFill>
              </a:rPr>
              <a:t>No Change in Assignments</a:t>
            </a:r>
            <a:endParaRPr b="1"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If</a:t>
            </a:r>
            <a:r>
              <a:rPr b="1" lang="en" sz="1100">
                <a:solidFill>
                  <a:srgbClr val="595959"/>
                </a:solidFill>
              </a:rPr>
              <a:t> </a:t>
            </a:r>
            <a:r>
              <a:rPr lang="en" sz="1100">
                <a:solidFill>
                  <a:srgbClr val="595959"/>
                </a:solidFill>
              </a:rPr>
              <a:t>no data points change their cluster assignments between iterations, the algorithm has converged. This is a stricter condition than centroid movement.</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b="1" lang="en" sz="1100">
                <a:solidFill>
                  <a:srgbClr val="595959"/>
                </a:solidFill>
              </a:rPr>
              <a:t>Maximum Iterations Reached</a:t>
            </a:r>
            <a:endParaRPr b="1"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Set a maximum number of iterations (e.g., 300) to prevent infinite loops. If this limit is reached, stop even if other convergence criteria aren't met.</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b="1" lang="en" sz="1100">
                <a:solidFill>
                  <a:srgbClr val="595959"/>
                </a:solidFill>
              </a:rPr>
              <a:t>Relative Change in Objective Function</a:t>
            </a:r>
            <a:endParaRPr b="1"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Monitor the within-cluster sum of squares (WCSS). If the improvement between iterations falls below a threshold (e.g., 0.01%), consider it converged.</a:t>
            </a:r>
            <a:endParaRPr sz="1100">
              <a:solidFill>
                <a:srgbClr val="59595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33" name="Google Shape;133;p26"/>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How this clustering works when there are multiple features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Distance Calculation in Multiple Dimensions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I</a:t>
            </a:r>
            <a:r>
              <a:rPr lang="en" sz="1100">
                <a:solidFill>
                  <a:srgbClr val="595959"/>
                </a:solidFill>
              </a:rPr>
              <a:t>nstead of calculating distance in 2D space, K-means uses Euclidean distance across all features. For a data point with features [x₁, x₂, x₃, ..., xₙ] and centroid [c₁, c₂, c₃, ..., cₙ], the distance is: √[(x₁-c₁)² + (x₂-c₂)² + (x₃-c₃)² + ... + (xₙ-cₙ)²]</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Centroid Calculation</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Centroids are calculated as the mean across all dimensions. For each cluster, the centroid becomes [mean(x₁), mean(x₂), mean(x₃), ..., mean(xₙ)] of all points assigned to that cluster.</a:t>
            </a:r>
            <a:endParaRPr sz="1100">
              <a:solidFill>
                <a:srgbClr val="59595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KMeans Clustering</a:t>
            </a:r>
            <a:endParaRPr/>
          </a:p>
        </p:txBody>
      </p:sp>
      <p:sp>
        <p:nvSpPr>
          <p:cNvPr id="139" name="Google Shape;139;p27"/>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Considerations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Feature Scaling Becomes Critical</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Dif</a:t>
            </a:r>
            <a:r>
              <a:rPr lang="en" sz="1100">
                <a:solidFill>
                  <a:srgbClr val="595959"/>
                </a:solidFill>
              </a:rPr>
              <a:t>ferent features often have different scales (age in years vs income in dollars vs number of purchases). Features with larger scales will dominate the distance calculation. Always standardize or normalize features before clustering so each feature contributes equally to the distance calculation.</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The Curse of Dimensionality</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As the number of features increases, several challenges emerge. All points tend to become equidistant from each other in high-dimensional space, making clustering less meaningful. The volume of the space increases exponentially, making data points sparser. Distance-based measures become less discriminative.</a:t>
            </a:r>
            <a:endParaRPr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Use PCA or other </a:t>
            </a:r>
            <a:r>
              <a:rPr lang="en" sz="1100">
                <a:solidFill>
                  <a:srgbClr val="595959"/>
                </a:solidFill>
              </a:rPr>
              <a:t>dimensionality</a:t>
            </a:r>
            <a:r>
              <a:rPr lang="en" sz="1100">
                <a:solidFill>
                  <a:srgbClr val="595959"/>
                </a:solidFill>
              </a:rPr>
              <a:t> reductions to dimensionality.</a:t>
            </a:r>
            <a:endParaRPr sz="1100">
              <a:solidFill>
                <a:srgbClr val="595959"/>
              </a:solidFill>
            </a:endParaRPr>
          </a:p>
          <a:p>
            <a:pPr indent="-298450" lvl="2" marL="1371600" marR="381000" rtl="0" algn="l">
              <a:lnSpc>
                <a:spcPct val="115000"/>
              </a:lnSpc>
              <a:spcBef>
                <a:spcPts val="0"/>
              </a:spcBef>
              <a:spcAft>
                <a:spcPts val="0"/>
              </a:spcAft>
              <a:buClr>
                <a:srgbClr val="595959"/>
              </a:buClr>
              <a:buSzPts val="1100"/>
              <a:buChar char="■"/>
            </a:pPr>
            <a:r>
              <a:rPr lang="en" sz="1100">
                <a:solidFill>
                  <a:srgbClr val="595959"/>
                </a:solidFill>
              </a:rPr>
              <a:t>Use other feature selection strategies.</a:t>
            </a:r>
            <a:endParaRPr sz="1100">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Within-Cluster Sum of Squares and Elbow plot</a:t>
            </a:r>
            <a:endParaRPr/>
          </a:p>
          <a:p>
            <a:pPr indent="0" lvl="0" marL="0" rtl="0" algn="l">
              <a:spcBef>
                <a:spcPts val="0"/>
              </a:spcBef>
              <a:spcAft>
                <a:spcPts val="0"/>
              </a:spcAft>
              <a:buNone/>
            </a:pPr>
            <a:r>
              <a:t/>
            </a:r>
            <a:endParaRPr/>
          </a:p>
        </p:txBody>
      </p:sp>
      <p:sp>
        <p:nvSpPr>
          <p:cNvPr id="145" name="Google Shape;145;p28"/>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Within-Cluster Sum of Squares (WCSS)</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What it measures: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WCSS calculates how tightly packed your clusters are. It's the sum of squared distances from each data point to its cluster center (centroid).</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Mathematical formula:</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For each cluster, take every point, measure its distance to the cluster center, square that distance, then add up all these squared distances across all clusters.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Distance (x</a:t>
            </a:r>
            <a:r>
              <a:rPr baseline="-25000" lang="en" sz="1100">
                <a:solidFill>
                  <a:srgbClr val="595959"/>
                </a:solidFill>
              </a:rPr>
              <a:t>j</a:t>
            </a:r>
            <a:r>
              <a:rPr baseline="30000" lang="en" sz="1100">
                <a:solidFill>
                  <a:srgbClr val="595959"/>
                </a:solidFill>
              </a:rPr>
              <a:t>(i)</a:t>
            </a:r>
            <a:r>
              <a:rPr lang="en" sz="1100">
                <a:solidFill>
                  <a:srgbClr val="595959"/>
                </a:solidFill>
              </a:rPr>
              <a:t>, c</a:t>
            </a:r>
            <a:r>
              <a:rPr baseline="-25000" lang="en" sz="1100">
                <a:solidFill>
                  <a:srgbClr val="595959"/>
                </a:solidFill>
              </a:rPr>
              <a:t>i</a:t>
            </a:r>
            <a:r>
              <a:rPr lang="en" sz="1100">
                <a:solidFill>
                  <a:srgbClr val="595959"/>
                </a:solidFill>
              </a:rPr>
              <a:t>) represents the distance between j-th data point from its centroid c</a:t>
            </a:r>
            <a:r>
              <a:rPr baseline="-25000" lang="en" sz="1100">
                <a:solidFill>
                  <a:srgbClr val="595959"/>
                </a:solidFill>
              </a:rPr>
              <a:t>i</a:t>
            </a:r>
            <a:r>
              <a:rPr lang="en" sz="1100">
                <a:solidFill>
                  <a:srgbClr val="595959"/>
                </a:solidFill>
              </a:rPr>
              <a:t> of that cluster.</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What the numbers mean:</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Lower WCSS = points are closer to their cluster centers = tighter, more cohesive clusters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Higher WCSS = points are farther from their cluster centers = looser, more spread out clusters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Simple analogy:</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Think of WCSS like measuring how close family members sit to each other at different tables during a family reunion. Lower WCSS means families are sitting closer together at their respective tables.</a:t>
            </a:r>
            <a:endParaRPr sz="1100">
              <a:solidFill>
                <a:srgbClr val="595959"/>
              </a:solidFill>
            </a:endParaRPr>
          </a:p>
        </p:txBody>
      </p:sp>
      <p:pic>
        <p:nvPicPr>
          <p:cNvPr id="146" name="Google Shape;146;p28"/>
          <p:cNvPicPr preferRelativeResize="0"/>
          <p:nvPr/>
        </p:nvPicPr>
        <p:blipFill>
          <a:blip r:embed="rId3">
            <a:alphaModFix/>
          </a:blip>
          <a:stretch>
            <a:fillRect/>
          </a:stretch>
        </p:blipFill>
        <p:spPr>
          <a:xfrm>
            <a:off x="2805100" y="4066875"/>
            <a:ext cx="3533775" cy="495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Within-Cluster Sum of Squares and Elbow plot</a:t>
            </a:r>
            <a:endParaRPr/>
          </a:p>
          <a:p>
            <a:pPr indent="0" lvl="0" marL="0" rtl="0" algn="l">
              <a:spcBef>
                <a:spcPts val="0"/>
              </a:spcBef>
              <a:spcAft>
                <a:spcPts val="0"/>
              </a:spcAft>
              <a:buNone/>
            </a:pPr>
            <a:r>
              <a:t/>
            </a:r>
            <a:endParaRPr/>
          </a:p>
        </p:txBody>
      </p:sp>
      <p:sp>
        <p:nvSpPr>
          <p:cNvPr id="152" name="Google Shape;152;p29"/>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The Elbow Plot</a:t>
            </a:r>
            <a:endParaRPr b="1" sz="13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What it shows: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A graph with number of clusters (k) on the x-axis and WCSS on the y-axis. As k increases, WCSS always decreases.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Why WCSS always decreases: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With k=1: All points go to one cluster center - usually high WCSS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With k=2: Points split between two centers - lower WCSS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With k=3: Points split between three centers - even lower WCSS</a:t>
            </a:r>
            <a:endParaRPr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With k=n (where n = number of data points): Each point is its own cluster center - WCSS = 0</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The "elbow" shape:</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The plot typically shows a steep decline initially, then levels off. The curve resembles a bent arm, with the "elbow" being the point where the rate of improvement slows down dramatically.</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How to find the optimal k:</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Look for the elbow point - where adding more clusters doesn't give you much improvement in WCSS. This represents the best trade-off between having fewer clusters (simplicity) and having tight clusters (good fit).</a:t>
            </a:r>
            <a:endParaRPr sz="1100">
              <a:solidFill>
                <a:srgbClr val="59595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Within-Cluster Sum of Squares and Elbow plot</a:t>
            </a:r>
            <a:endParaRPr/>
          </a:p>
          <a:p>
            <a:pPr indent="0" lvl="0" marL="0" rtl="0" algn="l">
              <a:spcBef>
                <a:spcPts val="0"/>
              </a:spcBef>
              <a:spcAft>
                <a:spcPts val="0"/>
              </a:spcAft>
              <a:buNone/>
            </a:pPr>
            <a:r>
              <a:t/>
            </a:r>
            <a:endParaRPr/>
          </a:p>
        </p:txBody>
      </p:sp>
      <p:sp>
        <p:nvSpPr>
          <p:cNvPr id="158" name="Google Shape;158;p30"/>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300">
                <a:solidFill>
                  <a:srgbClr val="595959"/>
                </a:solidFill>
              </a:rPr>
              <a:t>The Elbow Plot</a:t>
            </a:r>
            <a:endParaRPr b="1" sz="1300">
              <a:solidFill>
                <a:srgbClr val="595959"/>
              </a:solidFill>
            </a:endParaRPr>
          </a:p>
          <a:p>
            <a:pPr indent="0" lvl="0" marL="0" marR="381000" rtl="0" algn="l">
              <a:lnSpc>
                <a:spcPct val="115000"/>
              </a:lnSpc>
              <a:spcBef>
                <a:spcPts val="1200"/>
              </a:spcBef>
              <a:spcAft>
                <a:spcPts val="1200"/>
              </a:spcAft>
              <a:buNone/>
            </a:pPr>
            <a:r>
              <a:t/>
            </a:r>
            <a:endParaRPr sz="1100">
              <a:solidFill>
                <a:srgbClr val="595959"/>
              </a:solidFill>
            </a:endParaRPr>
          </a:p>
        </p:txBody>
      </p:sp>
      <p:pic>
        <p:nvPicPr>
          <p:cNvPr id="159" name="Google Shape;159;p30"/>
          <p:cNvPicPr preferRelativeResize="0"/>
          <p:nvPr/>
        </p:nvPicPr>
        <p:blipFill>
          <a:blip r:embed="rId3">
            <a:alphaModFix/>
          </a:blip>
          <a:stretch>
            <a:fillRect/>
          </a:stretch>
        </p:blipFill>
        <p:spPr>
          <a:xfrm>
            <a:off x="2359663" y="1345175"/>
            <a:ext cx="4314825" cy="3162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Unsupervised Models</a:t>
            </a:r>
            <a:endParaRPr/>
          </a:p>
          <a:p>
            <a:pPr indent="0" lvl="0" marL="0" rtl="0" algn="l">
              <a:spcBef>
                <a:spcPts val="0"/>
              </a:spcBef>
              <a:spcAft>
                <a:spcPts val="0"/>
              </a:spcAft>
              <a:buNone/>
            </a:pPr>
            <a:r>
              <a:t/>
            </a:r>
            <a:endParaRPr/>
          </a:p>
        </p:txBody>
      </p:sp>
      <p:sp>
        <p:nvSpPr>
          <p:cNvPr id="165" name="Google Shape;165;p31"/>
          <p:cNvSpPr txBox="1"/>
          <p:nvPr/>
        </p:nvSpPr>
        <p:spPr>
          <a:xfrm>
            <a:off x="408750" y="796550"/>
            <a:ext cx="8140500" cy="4071000"/>
          </a:xfrm>
          <a:prstGeom prst="rect">
            <a:avLst/>
          </a:prstGeom>
          <a:noFill/>
          <a:ln>
            <a:noFill/>
          </a:ln>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 sz="1100">
                <a:solidFill>
                  <a:srgbClr val="595959"/>
                </a:solidFill>
              </a:rPr>
              <a:t>Evaluating unsupervised models is one of the most challenging aspects since there's no ground truth to compare against. Here are the main evaluation approaches.</a:t>
            </a:r>
            <a:endParaRPr sz="1100">
              <a:solidFill>
                <a:srgbClr val="595959"/>
              </a:solidFill>
            </a:endParaRPr>
          </a:p>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Internal Evaluation Metrics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chemeClr val="dk2"/>
                </a:solidFill>
              </a:rPr>
              <a:t>These assess the quality of clusters using only the data itself. </a:t>
            </a:r>
            <a:r>
              <a:rPr lang="en" sz="1100">
                <a:solidFill>
                  <a:srgbClr val="595959"/>
                </a:solidFill>
              </a:rPr>
              <a:t>For K-means specifically, inertia/WCSS measures within-cluster compactness, though it always decreases as k increases.</a:t>
            </a:r>
            <a:r>
              <a:rPr lang="en" sz="1100">
                <a:solidFill>
                  <a:schemeClr val="dk2"/>
                </a:solidFill>
              </a:rPr>
              <a:t>The silhouette score measures how similar each point is to its own cluster compared to other clusters (ranges from -1 to 1, higher is better). The Davies-Bouldin index evaluates cluster separation and compactness (lower values indicate better clustering).</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Visual Inspection</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Plotting clusters in 2D or 3D space helps assess whether the groupings make intuitive sense. Dimensionality reduction techniques like PCA or t-SNE can help visualize high-dimensional clusters. Heat maps and dendrograms are useful for hierarchical clustering.</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Domain Expert Validation</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Subject matter experts can evaluate whether discovered patterns align with domain knowledge. For customer segmentation, marketing experts might assess if the segments are actionable and meaningful.</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Stability Analysis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Run the algorithm multiple times with different random initializations or slightly perturbed data. Consistent results across runs indicate more reliable clustering. Cross-validation approaches like bootstrapping can test robustness.</a:t>
            </a:r>
            <a:endParaRPr sz="1100">
              <a:solidFill>
                <a:srgbClr val="59595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2238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Unsupervised Models</a:t>
            </a:r>
            <a:endParaRPr/>
          </a:p>
          <a:p>
            <a:pPr indent="0" lvl="0" marL="0" rtl="0" algn="l">
              <a:spcBef>
                <a:spcPts val="0"/>
              </a:spcBef>
              <a:spcAft>
                <a:spcPts val="0"/>
              </a:spcAft>
              <a:buNone/>
            </a:pPr>
            <a:r>
              <a:t/>
            </a:r>
            <a:endParaRPr/>
          </a:p>
        </p:txBody>
      </p:sp>
      <p:sp>
        <p:nvSpPr>
          <p:cNvPr id="171" name="Google Shape;171;p32"/>
          <p:cNvSpPr txBox="1"/>
          <p:nvPr/>
        </p:nvSpPr>
        <p:spPr>
          <a:xfrm>
            <a:off x="408750" y="928825"/>
            <a:ext cx="8140500" cy="3938700"/>
          </a:xfrm>
          <a:prstGeom prst="rect">
            <a:avLst/>
          </a:prstGeom>
          <a:noFill/>
          <a:ln>
            <a:noFill/>
          </a:ln>
        </p:spPr>
        <p:txBody>
          <a:bodyPr anchorCtr="0" anchor="t" bIns="91425" lIns="91425" spcFirstLastPara="1" rIns="91425" wrap="square" tIns="91425">
            <a:noAutofit/>
          </a:bodyPr>
          <a:lstStyle/>
          <a:p>
            <a:pPr indent="-298450" lvl="0" marL="457200" marR="381000" rtl="0" algn="l">
              <a:lnSpc>
                <a:spcPct val="115000"/>
              </a:lnSpc>
              <a:spcBef>
                <a:spcPts val="1200"/>
              </a:spcBef>
              <a:spcAft>
                <a:spcPts val="0"/>
              </a:spcAft>
              <a:buClr>
                <a:srgbClr val="595959"/>
              </a:buClr>
              <a:buSzPts val="1100"/>
              <a:buChar char="●"/>
            </a:pPr>
            <a:r>
              <a:rPr b="1" lang="en" sz="1100">
                <a:solidFill>
                  <a:srgbClr val="595959"/>
                </a:solidFill>
              </a:rPr>
              <a:t>Stability Analysis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Run the algorithm multiple times with different random initializations or slightly perturbed data. Consistent results across runs indicate more reliable clustering. Cross-validation approaches like bootstrapping can test robustness.</a:t>
            </a:r>
            <a:endParaRPr sz="1100">
              <a:solidFill>
                <a:srgbClr val="595959"/>
              </a:solidFill>
            </a:endParaRPr>
          </a:p>
          <a:p>
            <a:pPr indent="-298450" lvl="0" marL="457200" marR="381000" rtl="0" algn="l">
              <a:lnSpc>
                <a:spcPct val="115000"/>
              </a:lnSpc>
              <a:spcBef>
                <a:spcPts val="0"/>
              </a:spcBef>
              <a:spcAft>
                <a:spcPts val="0"/>
              </a:spcAft>
              <a:buClr>
                <a:srgbClr val="595959"/>
              </a:buClr>
              <a:buSzPts val="1100"/>
              <a:buChar char="●"/>
            </a:pPr>
            <a:r>
              <a:rPr b="1" lang="en" sz="1100">
                <a:solidFill>
                  <a:srgbClr val="595959"/>
                </a:solidFill>
              </a:rPr>
              <a:t>Business/Task-Specific Metrics</a:t>
            </a:r>
            <a:endParaRPr b="1" sz="1100">
              <a:solidFill>
                <a:srgbClr val="595959"/>
              </a:solidFill>
            </a:endParaRPr>
          </a:p>
          <a:p>
            <a:pPr indent="-298450" lvl="1" marL="914400" marR="381000" rtl="0" algn="l">
              <a:lnSpc>
                <a:spcPct val="115000"/>
              </a:lnSpc>
              <a:spcBef>
                <a:spcPts val="0"/>
              </a:spcBef>
              <a:spcAft>
                <a:spcPts val="0"/>
              </a:spcAft>
              <a:buClr>
                <a:srgbClr val="595959"/>
              </a:buClr>
              <a:buSzPts val="1100"/>
              <a:buChar char="○"/>
            </a:pPr>
            <a:r>
              <a:rPr lang="en" sz="1100">
                <a:solidFill>
                  <a:srgbClr val="595959"/>
                </a:solidFill>
              </a:rPr>
              <a:t>Evaluate based on downstream performance. If clusters are used for recommendation systems, measure recommendation accuracy. For anomaly detection, use precision, recall, and F1-score if you can identify some known anomalies.</a:t>
            </a:r>
            <a:endParaRPr sz="1100">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